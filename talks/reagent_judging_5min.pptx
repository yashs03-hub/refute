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5600" b="1" i="0">
                <a:solidFill>
                  <a:srgbClr val="0F2A4A"/>
                </a:solidFill>
                <a:latin typeface="Arial"/>
              </a:rPr>
              <a:t>refute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108960"/>
            <a:ext cx="105156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200" b="0" i="0">
                <a:solidFill>
                  <a:srgbClr val="1A1D21"/>
                </a:solidFill>
                <a:latin typeface="Arial"/>
              </a:rPr>
              <a:t>Grounded hypothesis vetting, and the handoff to experimental design.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105156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 i="0">
                <a:solidFill>
                  <a:srgbClr val="5B636C"/>
                </a:solidFill>
                <a:latin typeface="Arial"/>
              </a:rPr>
              <a:t>Layer 2 of a two-layer system  ·  re:AGENT, Track 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5760720"/>
            <a:ext cx="10908792" cy="0"/>
          </a:xfrm>
          <a:prstGeom prst="line">
            <a:avLst/>
          </a:prstGeom>
          <a:ln w="12700">
            <a:solidFill>
              <a:srgbClr val="DDE1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THE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Two layers, one handoff.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691640"/>
            <a:ext cx="32004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0" i="1">
                <a:solidFill>
                  <a:srgbClr val="1A1D21"/>
                </a:solidFill>
                <a:latin typeface="Arial"/>
              </a:rPr>
              <a:t>a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2801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000" b="1" i="0">
                <a:solidFill>
                  <a:srgbClr val="0F2A4A"/>
                </a:solidFill>
                <a:latin typeface="Arial"/>
              </a:rPr>
              <a:t>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514600"/>
            <a:ext cx="9601200" cy="1783080"/>
          </a:xfrm>
          <a:prstGeom prst="roundRect">
            <a:avLst>
              <a:gd name="adj" fmla="val 5000"/>
            </a:avLst>
          </a:prstGeom>
          <a:solidFill>
            <a:srgbClr val="ECF1F7"/>
          </a:solidFill>
          <a:ln w="1587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 bIns="182880">
            <a:noAutofit/>
          </a:bodyPr>
          <a:lstStyle/>
          <a:p>
            <a:pPr algn="ctr"/>
            <a:r>
              <a:rPr sz="1700" b="1" i="0">
                <a:solidFill>
                  <a:srgbClr val="0F2A4A"/>
                </a:solidFill>
                <a:latin typeface="Arial"/>
              </a:rPr>
              <a:t>LAYER 1 — due diligence, to exhaustion</a:t>
            </a:r>
          </a:p>
          <a:p>
            <a:pPr>
              <a:spcBef>
                <a:spcPts val="500"/>
              </a:spcBef>
            </a:pPr>
            <a:r>
              <a:rPr sz="1350" b="0" i="0">
                <a:solidFill>
                  <a:srgbClr val="1A1D21"/>
                </a:solidFill>
                <a:latin typeface="Arial"/>
              </a:rPr>
              <a:t>·  check it against the computational data</a:t>
            </a:r>
          </a:p>
          <a:p>
            <a:pPr>
              <a:spcBef>
                <a:spcPts val="500"/>
              </a:spcBef>
            </a:pPr>
            <a:r>
              <a:rPr sz="1350" b="0" i="0">
                <a:solidFill>
                  <a:srgbClr val="1A1D21"/>
                </a:solidFill>
                <a:latin typeface="Arial"/>
              </a:rPr>
              <a:t>·  check it against the literature</a:t>
            </a:r>
          </a:p>
          <a:p>
            <a:pPr>
              <a:spcBef>
                <a:spcPts val="500"/>
              </a:spcBef>
            </a:pPr>
            <a:r>
              <a:rPr sz="1350" b="0" i="0">
                <a:solidFill>
                  <a:srgbClr val="1A1D21"/>
                </a:solidFill>
                <a:latin typeface="Arial"/>
              </a:rPr>
              <a:t>·  rule out what can be ruled out</a:t>
            </a:r>
          </a:p>
          <a:p>
            <a:pPr>
              <a:spcBef>
                <a:spcPts val="500"/>
              </a:spcBef>
            </a:pPr>
            <a:r>
              <a:rPr sz="1350" b="0" i="0">
                <a:solidFill>
                  <a:srgbClr val="1A1D21"/>
                </a:solidFill>
                <a:latin typeface="Arial"/>
              </a:rPr>
              <a:t>·  loop until nothing left changes the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2801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000" b="1" i="0">
                <a:solidFill>
                  <a:srgbClr val="0F2A4A"/>
                </a:solidFill>
                <a:latin typeface="Arial"/>
              </a:rPr>
              <a:t>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4453128"/>
            <a:ext cx="94183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50" b="0" i="1">
                <a:solidFill>
                  <a:srgbClr val="5B636C"/>
                </a:solidFill>
                <a:latin typeface="Arial"/>
              </a:rPr>
              <a:t>HANDOFF — everything found, everything ruled out, and the residual the bench must settle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5166360"/>
            <a:ext cx="9601200" cy="14173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1587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 bIns="182880">
            <a:noAutofit/>
          </a:bodyPr>
          <a:lstStyle/>
          <a:p>
            <a:pPr algn="ctr"/>
            <a:r>
              <a:rPr sz="1700" b="1" i="0">
                <a:solidFill>
                  <a:srgbClr val="0F2A4A"/>
                </a:solidFill>
                <a:latin typeface="Arial"/>
              </a:rPr>
              <a:t>LAYER 2 — experimental design  (this repository)</a:t>
            </a:r>
          </a:p>
          <a:p>
            <a:pPr>
              <a:spcBef>
                <a:spcPts val="500"/>
              </a:spcBef>
            </a:pPr>
            <a:r>
              <a:rPr sz="1350" b="0" i="0">
                <a:solidFill>
                  <a:srgbClr val="1A1D21"/>
                </a:solidFill>
                <a:latin typeface="Arial"/>
              </a:rPr>
              <a:t>·  pick the assay, size it</a:t>
            </a:r>
          </a:p>
          <a:p>
            <a:pPr>
              <a:spcBef>
                <a:spcPts val="500"/>
              </a:spcBef>
            </a:pPr>
            <a:r>
              <a:rPr sz="1350" b="0" i="0">
                <a:solidFill>
                  <a:srgbClr val="1A1D21"/>
                </a:solidFill>
                <a:latin typeface="Arial"/>
              </a:rPr>
              <a:t>·  judge whether it can be assessed, and at what fidelity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A scientist's hypothesis, run through the full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8813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 i="0">
                <a:solidFill>
                  <a:srgbClr val="5B636C"/>
                </a:solidFill>
                <a:latin typeface="Arial"/>
              </a:rPr>
              <a:t>Mouse whole-lung scRNA-seq, influenza A PR8, five timepoints, 29,513 cells.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23160"/>
            <a:ext cx="10881360" cy="1417320"/>
          </a:xfrm>
          <a:prstGeom prst="roundRect">
            <a:avLst>
              <a:gd name="adj" fmla="val 4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 bIns="201168">
            <a:no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E8EAED"/>
                </a:solidFill>
                <a:latin typeface="Courier New"/>
              </a:rPr>
              <a:t>"fibroblasts are dying during acute infection... to hyper recruit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E8EAED"/>
                </a:solidFill>
                <a:latin typeface="Courier New"/>
              </a:rPr>
              <a:t> immune cells, particular the interferon responsive and the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E8EAED"/>
                </a:solidFill>
                <a:latin typeface="Courier New"/>
              </a:rPr>
              <a:t> adventitial fibroblasts"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8A929C"/>
                </a:solidFill>
                <a:latin typeface="Courier New"/>
              </a:rPr>
              <a:t>  — message 185, as asked, typos included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10881360" cy="1920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600"/>
              </a:spcAft>
            </a:pPr>
            <a:r>
              <a:rPr sz="1600" b="0" i="0">
                <a:solidFill>
                  <a:srgbClr val="1A1D21"/>
                </a:solidFill>
                <a:latin typeface="Arial"/>
              </a:rPr>
              <a:t>Refined at message 191 into three separable propositions: a TRANSITION (adventitial → interferon-responsive), a DEATH (inflammatory), and a RECRUITMENT CONSEQUENCE.</a:t>
            </a:r>
          </a:p>
          <a:p>
            <a:pPr>
              <a:spcAft>
                <a:spcPts val="1600"/>
              </a:spcAft>
            </a:pPr>
            <a:r>
              <a:rPr sz="1600" b="0" i="0">
                <a:solidFill>
                  <a:srgbClr val="1A1D21"/>
                </a:solidFill>
                <a:latin typeface="Arial"/>
              </a:rPr>
              <a:t>“Nothing to prove that. That's my hypothesis, but we should just see where the data and the analysis take us.” — the scientist, same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WHAT LAYER 1 CAUGHT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It contradicted its own earlier claim — and caught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035040" cy="3108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600"/>
              </a:spcAft>
            </a:pPr>
            <a:r>
              <a:rPr sz="1700" b="1" i="0">
                <a:solidFill>
                  <a:srgbClr val="0F2A4A"/>
                </a:solidFill>
                <a:latin typeface="Arial"/>
              </a:rPr>
              <a:t>C7, message 185 —  </a:t>
            </a:r>
            <a:r>
              <a:rPr sz="1700" b="0" i="0">
                <a:solidFill>
                  <a:srgbClr val="1A1D21"/>
                </a:solidFill>
                <a:latin typeface="Arial"/>
              </a:rPr>
              <a:t>“the dataset contains no explicit influenza viral-feature gene.”</a:t>
            </a:r>
          </a:p>
          <a:p>
            <a:pPr>
              <a:spcAft>
                <a:spcPts val="1600"/>
              </a:spcAft>
            </a:pPr>
            <a:r>
              <a:rPr sz="1700" b="1" i="0">
                <a:solidFill>
                  <a:srgbClr val="0F2A4A"/>
                </a:solidFill>
                <a:latin typeface="Arial"/>
              </a:rPr>
              <a:t>C1, message 44, same agent —  </a:t>
            </a:r>
            <a:r>
              <a:rPr sz="1700" b="0" i="0">
                <a:solidFill>
                  <a:srgbClr val="1A1D21"/>
                </a:solidFill>
                <a:latin typeface="Arial"/>
              </a:rPr>
              <a:t>had already found it and quantified it: “Flu: 16.72% of 67,211 cells express it.”</a:t>
            </a:r>
          </a:p>
          <a:p>
            <a:pPr>
              <a:spcAft>
                <a:spcPts val="1600"/>
              </a:spcAft>
            </a:pPr>
            <a:r>
              <a:rPr sz="1700" b="1" i="0">
                <a:solidFill>
                  <a:srgbClr val="0F2A4A"/>
                </a:solidFill>
                <a:latin typeface="Arial"/>
              </a:rPr>
              <a:t>What caught it —  </a:t>
            </a:r>
            <a:r>
              <a:rPr sz="1700" b="0" i="0">
                <a:solidFill>
                  <a:srgbClr val="1A1D21"/>
                </a:solidFill>
                <a:latin typeface="Arial"/>
              </a:rPr>
              <a:t>not new data, not a better model. The system's own trace: “C7 directly contradicts C1 made by the same agent at message 44.”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83480"/>
            <a:ext cx="603504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700" b="1" i="0">
                <a:solidFill>
                  <a:srgbClr val="C03B2E"/>
                </a:solidFill>
                <a:latin typeface="Arial"/>
              </a:rPr>
              <a:t>The invalidating evidence sat in its own context for 141 messages. Nothing looked.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828800"/>
            <a:ext cx="4480560" cy="4343400"/>
          </a:xfrm>
          <a:prstGeom prst="roundRect">
            <a:avLst>
              <a:gd name="adj" fmla="val 4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 bIns="201168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EAED"/>
                </a:solidFill>
                <a:latin typeface="Courier New"/>
              </a:rPr>
              <a:t>13 claims scored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C03B2E"/>
                </a:solidFill>
                <a:latin typeface="Courier New"/>
              </a:rPr>
              <a:t>1  contradicted  (C7)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8A929C"/>
                </a:solidFill>
                <a:latin typeface="Courier New"/>
              </a:rPr>
              <a:t>7  abstained 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8A929C"/>
                </a:solidFill>
                <a:latin typeface="Courier New"/>
              </a:rPr>
              <a:t>   "nothing relevant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8A929C"/>
                </a:solidFill>
                <a:latin typeface="Courier New"/>
              </a:rPr>
              <a:t>    in hand"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1E7B4D"/>
                </a:solidFill>
                <a:latin typeface="Courier New"/>
              </a:rPr>
              <a:t>5  upheld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E8EAED"/>
                </a:solidFill>
                <a:latin typeface="Courier New"/>
              </a:rPr>
              <a:t>negative control —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8A929C"/>
                </a:solidFill>
                <a:latin typeface="Courier New"/>
              </a:rPr>
              <a:t>a separate thread,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8A929C"/>
                </a:solidFill>
                <a:latin typeface="Courier New"/>
              </a:rPr>
              <a:t>8 claims, all correct,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8A929C"/>
                </a:solidFill>
                <a:latin typeface="Courier New"/>
              </a:rPr>
              <a:t>144 papers read,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1E7B4D"/>
                </a:solidFill>
                <a:latin typeface="Courier New"/>
              </a:rPr>
              <a:t>nothing killed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THE HANDOFF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What crossed: findings, what's ruled out, one residual.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228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0"/>
              </a:spcAft>
            </a:pPr>
            <a:r>
              <a:rPr sz="1600" b="1" i="0">
                <a:solidFill>
                  <a:srgbClr val="0F2A4A"/>
                </a:solidFill>
                <a:latin typeface="Arial"/>
              </a:rPr>
              <a:t>Four experiments ruled out —  </a:t>
            </a:r>
            <a:r>
              <a:rPr sz="1600" b="0" i="0">
                <a:solidFill>
                  <a:srgbClr val="1A1D21"/>
                </a:solidFill>
                <a:latin typeface="Arial"/>
              </a:rPr>
              <a:t>simple acute depletion (counts never fall below baseline), mitochondrial fraction as a death readout (uniformly zero in this object), the 3.7-fold ISG number as quotable (direction survives, magnitude doesn't), any replicate-supported inference (one orig.ident).</a:t>
            </a:r>
          </a:p>
          <a:p>
            <a:pPr>
              <a:spcAft>
                <a:spcPts val="2000"/>
              </a:spcAft>
            </a:pPr>
            <a:r>
              <a:rPr sz="1600" b="1" i="0">
                <a:solidFill>
                  <a:srgbClr val="0F2A4A"/>
                </a:solidFill>
                <a:latin typeface="Arial"/>
              </a:rPr>
              <a:t>The residual, stated as the brief —  </a:t>
            </a:r>
            <a:r>
              <a:rPr sz="1600" b="0" i="0">
                <a:solidFill>
                  <a:srgbClr val="1A1D21"/>
                </a:solidFill>
                <a:latin typeface="Arial"/>
              </a:rPr>
              <a:t>adventitial fibroblasts acquire necroptosis-biased SIGNALLING POTENTIAL; whether that executes as death, and whether it drives recruitment, is unanswerable in this object.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4343400"/>
            <a:ext cx="10908792" cy="0"/>
          </a:xfrm>
          <a:prstGeom prst="line">
            <a:avLst/>
          </a:prstGeom>
          <a:ln w="12700">
            <a:solidFill>
              <a:srgbClr val="DDE1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4572000"/>
            <a:ext cx="10881360" cy="1463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900" b="1" i="0">
                <a:solidFill>
                  <a:srgbClr val="0F2A4A"/>
                </a:solidFill>
                <a:latin typeface="Arial"/>
              </a:rPr>
              <a:t>“protein-level phospho-MLKL/RIPK3 and cleaved-caspase assays would be needed”</a:t>
            </a:r>
          </a:p>
          <a:p>
            <a:pPr>
              <a:spcBef>
                <a:spcPts val="600"/>
              </a:spcBef>
            </a:pPr>
            <a:r>
              <a:rPr sz="1500" b="0" i="1">
                <a:solidFill>
                  <a:srgbClr val="5B636C"/>
                </a:solidFill>
                <a:latin typeface="Arial"/>
              </a:rPr>
              <a:t>— the analysis names its own experiment. That sentence is what crosses to layer 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LAYER 2 — THIS REPOSITORY,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Ran it through refute intake. It refused to force a 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881360" cy="3063240"/>
          </a:xfrm>
          <a:prstGeom prst="roundRect">
            <a:avLst>
              <a:gd name="adj" fmla="val 4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 bIns="201168">
            <a:noAutofit/>
          </a:bodyPr>
          <a:lstStyle/>
          <a:p>
            <a:pPr algn="ctr">
              <a:spcAft>
                <a:spcPts val="400"/>
              </a:spcAft>
            </a:pPr>
            <a:r>
              <a:rPr sz="1450" b="0" i="0">
                <a:solidFill>
                  <a:srgbClr val="8A929C"/>
                </a:solidFill>
                <a:latin typeface="Courier New"/>
              </a:rPr>
              <a:t>$ refute intake "a fibroblast-restricted perturbation in mouse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8A929C"/>
                </a:solidFill>
                <a:latin typeface="Courier New"/>
              </a:rPr>
              <a:t>  lung across an influenza PR8 timecourse: conditional Ripk3 or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8A929C"/>
                </a:solidFill>
                <a:latin typeface="Courier New"/>
              </a:rPr>
              <a:t>  Mlkl deletion... phospho-MLKL/RIPK3 readout..."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E8EAED"/>
                </a:solidFill>
                <a:latin typeface="Courier New"/>
              </a:rPr>
              <a:t>1. bleomycin_lung        7.1   lung, mouse, day, readout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E8EAED"/>
                </a:solidFill>
                <a:latin typeface="Courier New"/>
              </a:rPr>
              <a:t>2. apoptosis_resistance  6.9   surviving, timepoint, viability,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E8EAED"/>
                </a:solidFill>
                <a:latin typeface="Courier New"/>
              </a:rPr>
              <a:t>                               fibroblast, readout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C03B2E"/>
                </a:solidFill>
                <a:latin typeface="Courier New"/>
              </a:rPr>
              <a:t>The leader is not clear of the field. Acting on it alone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C03B2E"/>
                </a:solidFill>
                <a:latin typeface="Courier New"/>
              </a:rPr>
              <a:t>discards a live alternative, so read the ranking rather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C03B2E"/>
                </a:solidFill>
                <a:latin typeface="Courier New"/>
              </a:rPr>
              <a:t>than the first line.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C03B2E"/>
                </a:solidFill>
                <a:latin typeface="Courier New"/>
              </a:rPr>
              <a:t>ready for the gate: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 i="0">
                <a:solidFill>
                  <a:srgbClr val="1A1D21"/>
                </a:solidFill>
                <a:latin typeface="Arial"/>
              </a:rPr>
              <a:t>Neither scaffold is a real fit — an in vivo genetic perturbation crossed with an infection timecourse is its own apparatus. Correctly refused, not forced.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NOTHING PREBUILT FITS — GROUND THE DESIGN DIRECTLY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The same Paperclip link, aimed at what's actually needed.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</a:pPr>
            <a:r>
              <a:rPr sz="1700" b="0" i="0">
                <a:solidFill>
                  <a:srgbClr val="1A1D21"/>
                </a:solidFill>
                <a:latin typeface="Arial"/>
              </a:rPr>
              <a:t>A fibroblast-specific — ideally adventitial-specific — Cre driver line for mouse lung, published and available.</a:t>
            </a:r>
          </a:p>
          <a:p>
            <a:pPr>
              <a:spcAft>
                <a:spcPts val="1400"/>
              </a:spcAft>
            </a:pPr>
            <a:r>
              <a:rPr sz="1700" b="0" i="0">
                <a:solidFill>
                  <a:srgbClr val="1A1D21"/>
                </a:solidFill>
                <a:latin typeface="Arial"/>
              </a:rPr>
              <a:t>Floxed Ripk3 and Mlkl conditional alleles, and any prior study combining either with a fibroblast Cre.</a:t>
            </a:r>
          </a:p>
          <a:p>
            <a:pPr>
              <a:spcAft>
                <a:spcPts val="1400"/>
              </a:spcAft>
            </a:pPr>
            <a:r>
              <a:rPr sz="1700" b="0" i="0">
                <a:solidFill>
                  <a:srgbClr val="1A1D21"/>
                </a:solidFill>
                <a:latin typeface="Arial"/>
              </a:rPr>
              <a:t>Phospho-MLKL/phospho-RIPK3 detection validated in lung TISSUE, not just cell culture — and whether it survives dissociation.</a:t>
            </a:r>
          </a:p>
          <a:p>
            <a:pPr>
              <a:spcAft>
                <a:spcPts val="1400"/>
              </a:spcAft>
            </a:pPr>
            <a:r>
              <a:rPr sz="1700" b="0" i="0">
                <a:solidFill>
                  <a:srgbClr val="1A1D21"/>
                </a:solidFill>
                <a:latin typeface="Arial"/>
              </a:rPr>
              <a:t>Fibroblast-specific influenza necroptosis precedent, flagged explicitly if only epithelial-cell data exists as a proxy.</a:t>
            </a:r>
          </a:p>
          <a:p>
            <a:pPr>
              <a:spcAft>
                <a:spcPts val="1400"/>
              </a:spcAft>
            </a:pPr>
            <a:r>
              <a:rPr sz="1700" b="0" i="0">
                <a:solidFill>
                  <a:srgbClr val="1A1D21"/>
                </a:solidFill>
                <a:latin typeface="Arial"/>
              </a:rPr>
              <a:t>A flow-compatible ferroptosis readout (lipid peroxidation, GPX4) for the second arm the residual's own signal pointed toward.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LAYER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What a frontier model alone cannot do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88136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200"/>
              </a:spcAft>
            </a:pPr>
            <a:r>
              <a:rPr sz="1800" b="1" i="0">
                <a:solidFill>
                  <a:srgbClr val="0F2A4A"/>
                </a:solidFill>
                <a:latin typeface="Arial"/>
              </a:rPr>
              <a:t>No self-catch —  </a:t>
            </a:r>
            <a:r>
              <a:rPr sz="1800" b="0" i="0">
                <a:solidFill>
                  <a:srgbClr val="1A1D21"/>
                </a:solidFill>
                <a:latin typeface="Arial"/>
              </a:rPr>
              <a:t>a model asked this question once does not re-read its own message 44 against its own message 185. C7 stayed wrong for 141 messages because nothing was built to look back.</a:t>
            </a:r>
          </a:p>
          <a:p>
            <a:pPr>
              <a:spcAft>
                <a:spcPts val="2200"/>
              </a:spcAft>
            </a:pPr>
            <a:r>
              <a:rPr sz="1800" b="1" i="0">
                <a:solidFill>
                  <a:srgbClr val="0F2A4A"/>
                </a:solidFill>
                <a:latin typeface="Arial"/>
              </a:rPr>
              <a:t>No honest refusal —  </a:t>
            </a:r>
            <a:r>
              <a:rPr sz="1800" b="0" i="0">
                <a:solidFill>
                  <a:srgbClr val="1A1D21"/>
                </a:solidFill>
                <a:latin typeface="Arial"/>
              </a:rPr>
              <a:t>asked to design the experiment, a frontier model proposes one. It does not say “neither scaffold is a real fit” — it has no scaffolds to check against, and no incentive to say no.</a:t>
            </a:r>
          </a:p>
          <a:p>
            <a:pPr>
              <a:spcAft>
                <a:spcPts val="2200"/>
              </a:spcAft>
            </a:pPr>
            <a:r>
              <a:rPr sz="1800" b="1" i="0">
                <a:solidFill>
                  <a:srgbClr val="0F2A4A"/>
                </a:solidFill>
                <a:latin typeface="Arial"/>
              </a:rPr>
              <a:t>No sourced numbers —  </a:t>
            </a:r>
            <a:r>
              <a:rPr sz="1800" b="0" i="0">
                <a:solidFill>
                  <a:srgbClr val="1A1D21"/>
                </a:solidFill>
                <a:latin typeface="Arial"/>
              </a:rPr>
              <a:t>a Cre driver line, a floxed allele, an antibody clone — a frontier model will name something plausible. This names something published, quoted, full-text-verified, or says NOT_REPORTED with the query attached.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5212080"/>
            <a:ext cx="10908792" cy="0"/>
          </a:xfrm>
          <a:prstGeom prst="line">
            <a:avLst/>
          </a:prstGeom>
          <a:ln w="12700">
            <a:solidFill>
              <a:srgbClr val="DDE1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44068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800" b="1" i="0">
                <a:solidFill>
                  <a:srgbClr val="0F2A4A"/>
                </a:solidFill>
                <a:latin typeface="Arial"/>
              </a:rPr>
              <a:t>The gap was never idea generation. It's catching your own error, and refusing when you don't actually know.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Two independently built systems. One real handoff.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881360" cy="3291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0"/>
              </a:spcAft>
            </a:pPr>
            <a:r>
              <a:rPr sz="1800" b="0" i="0">
                <a:solidFill>
                  <a:srgbClr val="1A1D21"/>
                </a:solidFill>
                <a:latin typeface="Arial"/>
              </a:rPr>
              <a:t>Nothing on this path was invented for the deck — the hypothesis, the self-correction, the abstentions, the residual, and the intake run are all real output from real systems, this session.</a:t>
            </a:r>
          </a:p>
          <a:p>
            <a:pPr>
              <a:spcAft>
                <a:spcPts val="2000"/>
              </a:spcAft>
            </a:pPr>
            <a:r>
              <a:rPr sz="1800" b="0" i="0">
                <a:solidFill>
                  <a:srgbClr val="1A1D21"/>
                </a:solidFill>
                <a:latin typeface="Arial"/>
              </a:rPr>
              <a:t>Layer 1 ran to exhaustion and handed off exactly one residual. Layer 2 checked it honestly against what's calibrated, found nothing that fits, and said so instead of forcing a number.</a:t>
            </a:r>
          </a:p>
          <a:p>
            <a:pPr>
              <a:spcAft>
                <a:spcPts val="2000"/>
              </a:spcAft>
            </a:pPr>
            <a:r>
              <a:rPr sz="1800" b="0" i="0">
                <a:solidFill>
                  <a:srgbClr val="1A1D21"/>
                </a:solidFill>
                <a:latin typeface="Arial"/>
              </a:rPr>
              <a:t>That refusal, followed by real literature grounding instead of a guess, is the whole pitch in one worked example.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