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6000" b="1" i="0">
                <a:solidFill>
                  <a:srgbClr val="0F2A4A"/>
                </a:solidFill>
                <a:latin typeface="Arial"/>
              </a:rPr>
              <a:t>refute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429000"/>
            <a:ext cx="10515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200" b="0" i="0">
                <a:solidFill>
                  <a:srgbClr val="1A1D21"/>
                </a:solidFill>
                <a:latin typeface="Arial"/>
              </a:rPr>
              <a:t>Benchmarking experiment-designing agents against experiments that failed.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 i="0">
                <a:solidFill>
                  <a:srgbClr val="5B636C"/>
                </a:solidFill>
                <a:latin typeface="Arial"/>
              </a:rPr>
              <a:t>re:AGENT — End to End Agentic Science  ·  Track B: Build the Dataset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760720"/>
            <a:ext cx="10908792" cy="0"/>
          </a:xfrm>
          <a:prstGeom prst="line">
            <a:avLst/>
          </a:prstGeom>
          <a:ln w="12700">
            <a:solidFill>
              <a:srgbClr val="DD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 i="0" spc="150">
                <a:solidFill>
                  <a:srgbClr val="5B636C"/>
                </a:solidFill>
                <a:latin typeface="Arial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 i="0">
                <a:solidFill>
                  <a:srgbClr val="0F2A4A"/>
                </a:solidFill>
                <a:latin typeface="Arial"/>
              </a:rPr>
              <a:t>Published work is filtered.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694944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200"/>
              </a:spcAft>
            </a:pPr>
            <a:r>
              <a:rPr sz="1900" b="1" i="0">
                <a:solidFill>
                  <a:srgbClr val="0F2A4A"/>
                </a:solidFill>
                <a:latin typeface="Arial"/>
              </a:rPr>
              <a:t>What's missing —  </a:t>
            </a:r>
            <a:r>
              <a:rPr sz="1900" b="0" i="0">
                <a:solidFill>
                  <a:srgbClr val="1A1D21"/>
                </a:solidFill>
                <a:latin typeface="Arial"/>
              </a:rPr>
              <a:t>the experiments that didn't work are largely absent from the corpus these agents learned on.</a:t>
            </a:r>
          </a:p>
          <a:p>
            <a:pPr>
              <a:spcAft>
                <a:spcPts val="2200"/>
              </a:spcAft>
            </a:pPr>
            <a:r>
              <a:rPr sz="1900" b="1" i="0">
                <a:solidFill>
                  <a:srgbClr val="0F2A4A"/>
                </a:solidFill>
                <a:latin typeface="Arial"/>
              </a:rPr>
              <a:t>What that costs —  </a:t>
            </a:r>
            <a:r>
              <a:rPr sz="1900" b="0" i="0">
                <a:solidFill>
                  <a:srgbClr val="1A1D21"/>
                </a:solidFill>
                <a:latin typeface="Arial"/>
              </a:rPr>
              <a:t>an agent that generates a thousand plausible hypotheses and can't tell you which one is right hasn't automated science. It's automated speculation.</a:t>
            </a:r>
          </a:p>
          <a:p>
            <a:pPr>
              <a:spcAft>
                <a:spcPts val="2200"/>
              </a:spcAft>
            </a:pPr>
            <a:r>
              <a:rPr sz="1900" b="1" i="0">
                <a:solidFill>
                  <a:srgbClr val="0F2A4A"/>
                </a:solidFill>
                <a:latin typeface="Arial"/>
              </a:rPr>
              <a:t>The actual bottleneck —  </a:t>
            </a:r>
            <a:r>
              <a:rPr sz="1900" b="0" i="0">
                <a:solidFill>
                  <a:srgbClr val="1A1D21"/>
                </a:solidFill>
                <a:latin typeface="Arial"/>
              </a:rPr>
              <a:t>was never idea generation. It's the cost of finding out you were wrong.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874519"/>
            <a:ext cx="3703320" cy="3383280"/>
          </a:xfrm>
          <a:prstGeom prst="roundRect">
            <a:avLst>
              <a:gd name="adj" fmla="val 4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 bIns="201168">
            <a:no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8A929C"/>
                </a:solidFill>
                <a:latin typeface="Courier New"/>
              </a:rPr>
              <a:t>effect sizes,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8A929C"/>
                </a:solidFill>
                <a:latin typeface="Courier New"/>
              </a:rPr>
              <a:t>precision estimates: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8EAED"/>
                </a:solidFill>
                <a:latin typeface="Courier New"/>
              </a:rPr>
              <a:t>reported.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E8EAED"/>
                </a:solidFill>
                <a:latin typeface="Courier New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8A929C"/>
                </a:solidFill>
                <a:latin typeface="Courier New"/>
              </a:rPr>
              <a:t>failure rates,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8A929C"/>
                </a:solidFill>
                <a:latin typeface="Courier New"/>
              </a:rPr>
              <a:t>attrition, dropout: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03B2E"/>
                </a:solidFill>
                <a:latin typeface="Courier New"/>
              </a:rPr>
              <a:t>not reported.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E8EAED"/>
                </a:solidFill>
                <a:latin typeface="Courier New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8A929C"/>
                </a:solidFill>
                <a:latin typeface="Courier New"/>
              </a:rPr>
              <a:t>measured across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8A929C"/>
                </a:solidFill>
                <a:latin typeface="Courier New"/>
              </a:rPr>
              <a:t>6 real assay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8A929C"/>
                </a:solidFill>
                <a:latin typeface="Courier New"/>
              </a:rPr>
              <a:t>scaffolds — not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8A929C"/>
                </a:solidFill>
                <a:latin typeface="Courier New"/>
              </a:rPr>
              <a:t>assumed. §6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 i="0" spc="150">
                <a:solidFill>
                  <a:srgbClr val="5B636C"/>
                </a:solidFill>
                <a:latin typeface="Arial"/>
              </a:rPr>
              <a:t>THE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 i="0">
                <a:solidFill>
                  <a:srgbClr val="0F2A4A"/>
                </a:solidFill>
                <a:latin typeface="Arial"/>
              </a:rPr>
              <a:t>A real experiment failed. It was never published.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3017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0"/>
              </a:spcAft>
            </a:pPr>
            <a:r>
              <a:rPr sz="2000" b="0" i="0">
                <a:solidFill>
                  <a:srgbClr val="1A1D21"/>
                </a:solidFill>
                <a:latin typeface="Arial"/>
              </a:rPr>
              <a:t>Anchored fibrin gels, human synovial fibroblasts — testing whether MSC-conditioned media blunts TGF-β-driven contraction.</a:t>
            </a:r>
          </a:p>
          <a:p>
            <a:pPr>
              <a:spcAft>
                <a:spcPts val="2000"/>
              </a:spcAft>
            </a:pPr>
            <a:r>
              <a:rPr sz="2000" b="0" i="0">
                <a:solidFill>
                  <a:srgbClr val="1A1D21"/>
                </a:solidFill>
                <a:latin typeface="Arial"/>
              </a:rPr>
              <a:t>The gels dissolved before the treatment window closed — cell-mediated fibrinolysis, fastest in exactly the arms the comparison needed.</a:t>
            </a:r>
          </a:p>
          <a:p>
            <a:pPr>
              <a:spcAft>
                <a:spcPts val="2000"/>
              </a:spcAft>
            </a:pPr>
            <a:r>
              <a:rPr sz="2000" b="0" i="0">
                <a:solidFill>
                  <a:srgbClr val="1A1D21"/>
                </a:solidFill>
                <a:latin typeface="Arial"/>
              </a:rPr>
              <a:t>Nothing like it is in the literature. This benchmark is built on the one thing that never gets to be: the failure itself, as primary data.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5074920"/>
            <a:ext cx="10908792" cy="0"/>
          </a:xfrm>
          <a:prstGeom prst="line">
            <a:avLst/>
          </a:prstGeom>
          <a:ln w="12700">
            <a:solidFill>
              <a:srgbClr val="DD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 i="1">
                <a:solidFill>
                  <a:srgbClr val="5B636C"/>
                </a:solidFill>
                <a:latin typeface="Arial"/>
              </a:rPr>
              <a:t>A digital twin, calibrated on that plate — contraction kinetics, scaffold survival, measurement noise, attrition — all fitted to what actually happened, not assumed.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 i="0" spc="150">
                <a:solidFill>
                  <a:srgbClr val="5B636C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 i="0">
                <a:solidFill>
                  <a:srgbClr val="0F2A4A"/>
                </a:solidFill>
                <a:latin typeface="Arial"/>
              </a:rPr>
              <a:t>The model extracts. The simulator judges.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881360" cy="1051560"/>
          </a:xfrm>
          <a:prstGeom prst="roundRect">
            <a:avLst>
              <a:gd name="adj" fmla="val 4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 bIns="201168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E8EAED"/>
                </a:solidFill>
                <a:latin typeface="Courier New"/>
              </a:rPr>
              <a:t>agent proposes  ──▶  LLM extracts  ──▶  twin simulates  ──▶  score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8A929C"/>
                </a:solidFill>
                <a:latin typeface="Courier New"/>
              </a:rPr>
              <a:t>  (free text)          (DesignSpec)        (calibrated)     (power)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37560"/>
            <a:ext cx="10881360" cy="2651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0F2A4A"/>
                </a:solidFill>
                <a:latin typeface="Arial"/>
              </a:rPr>
              <a:t>Extraction —  </a:t>
            </a:r>
            <a:r>
              <a:rPr sz="1800" b="0" i="0">
                <a:solidFill>
                  <a:srgbClr val="1A1D21"/>
                </a:solidFill>
                <a:latin typeface="Arial"/>
              </a:rPr>
              <a:t>turning prose into parameters. Models do this reliably.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0F2A4A"/>
                </a:solidFill>
                <a:latin typeface="Arial"/>
              </a:rPr>
              <a:t>Judgement —  </a:t>
            </a:r>
            <a:r>
              <a:rPr sz="1800" b="0" i="0">
                <a:solidFill>
                  <a:srgbClr val="1A1D21"/>
                </a:solidFill>
                <a:latin typeface="Arial"/>
              </a:rPr>
              <a:t>deciding whether a design works. Models don't — so that half is a mechanistic simulator, not an LLM-as-judge rubric.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0F2A4A"/>
                </a:solidFill>
                <a:latin typeface="Arial"/>
              </a:rPr>
              <a:t>Feedback reports consequences, never corrections —  </a:t>
            </a:r>
            <a:r>
              <a:rPr sz="1800" b="0" i="0">
                <a:solidFill>
                  <a:srgbClr val="1A1D21"/>
                </a:solidFill>
                <a:latin typeface="Arial"/>
              </a:rPr>
              <a:t>“the scaffold was gone before your endpoint,” never “add aprotinin.” Working out the fix is the part being benchmarked.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 i="0" spc="150">
                <a:solidFill>
                  <a:srgbClr val="5B636C"/>
                </a:solidFill>
                <a:latin typeface="Arial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 i="0">
                <a:solidFill>
                  <a:srgbClr val="0F2A4A"/>
                </a:solidFill>
                <a:latin typeface="Arial"/>
              </a:rPr>
              <a:t>A frontier model made the same three mistakes.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61264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800"/>
              </a:spcAft>
            </a:pPr>
            <a:r>
              <a:rPr sz="1800" b="0" i="0">
                <a:solidFill>
                  <a:srgbClr val="1A1D21"/>
                </a:solidFill>
                <a:latin typeface="Arial"/>
              </a:rPr>
              <a:t>n=3 per arm. No antifibrinolytic. No reasoning about the scaffold at all — the same defects Experiment 4 actually had.</a:t>
            </a:r>
          </a:p>
          <a:p>
            <a:pPr>
              <a:spcAft>
                <a:spcPts val="1800"/>
              </a:spcAft>
            </a:pPr>
            <a:r>
              <a:rPr sz="1800" b="0" i="0">
                <a:solidFill>
                  <a:srgbClr val="1A1D21"/>
                </a:solidFill>
                <a:latin typeface="Arial"/>
              </a:rPr>
              <a:t>Given consequences instead of corrections, it narrowed to the arms that mattered, filled the plate, flagged scaffold failure.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737360"/>
            <a:ext cx="233172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600" b="1" i="0">
                <a:solidFill>
                  <a:srgbClr val="1E7B4D"/>
                </a:solidFill>
                <a:latin typeface="Arial"/>
              </a:rPr>
              <a:t>0% → 97%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514600"/>
            <a:ext cx="23317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 i="0">
                <a:solidFill>
                  <a:srgbClr val="5B636C"/>
                </a:solidFill>
                <a:latin typeface="Arial"/>
              </a:rPr>
              <a:t>runs yielding a testable result — one revision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737360"/>
            <a:ext cx="210312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400" b="1" i="0">
                <a:solidFill>
                  <a:srgbClr val="C03B2E"/>
                </a:solidFill>
                <a:latin typeface="Arial"/>
              </a:rPr>
              <a:t>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514600"/>
            <a:ext cx="2103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300" b="0" i="0">
                <a:solidFill>
                  <a:srgbClr val="5B636C"/>
                </a:solidFill>
                <a:latin typeface="Arial"/>
              </a:rPr>
              <a:t>power — the honest ceiling on one plate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892040"/>
            <a:ext cx="10908792" cy="0"/>
          </a:xfrm>
          <a:prstGeom prst="line">
            <a:avLst/>
          </a:prstGeom>
          <a:ln w="12700">
            <a:solidFill>
              <a:srgbClr val="DD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5120640"/>
            <a:ext cx="108813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200" b="1" i="0">
                <a:solidFill>
                  <a:srgbClr val="0F2A4A"/>
                </a:solidFill>
                <a:latin typeface="Arial"/>
              </a:rPr>
              <a:t>Even the best design available cannot answer the question.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5B636C"/>
                </a:solidFill>
                <a:latin typeface="Arial"/>
              </a:rPr>
              <a:t>Hand-written with full hindsight, the same design reaches 9% power on one plate — and 83% the moment the plate limit is lifted. The constraint is the apparatus, not the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 i="0" spc="150">
                <a:solidFill>
                  <a:srgbClr val="5B636C"/>
                </a:solidFill>
                <a:latin typeface="Arial"/>
              </a:rPr>
              <a:t>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 i="0">
                <a:solidFill>
                  <a:srgbClr val="0F2A4A"/>
                </a:solidFill>
                <a:latin typeface="Arial"/>
              </a:rPr>
              <a:t>Not one twin. A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630936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800"/>
              </a:spcAft>
            </a:pPr>
            <a:r>
              <a:rPr sz="1700" b="1" i="0">
                <a:solidFill>
                  <a:srgbClr val="0F2A4A"/>
                </a:solidFill>
                <a:latin typeface="Arial"/>
              </a:rPr>
              <a:t>Six-scaffold literature calibration —  </a:t>
            </a:r>
            <a:r>
              <a:rPr sz="1700" b="0" i="0">
                <a:solidFill>
                  <a:srgbClr val="1A1D21"/>
                </a:solidFill>
                <a:latin typeface="Arial"/>
              </a:rPr>
              <a:t>the asymmetry stated above isn't assumed, it's measured: dual-instrument sweep, every quote checked against fetched full text.</a:t>
            </a:r>
          </a:p>
          <a:p>
            <a:pPr>
              <a:spcAft>
                <a:spcPts val="1800"/>
              </a:spcAft>
            </a:pPr>
            <a:r>
              <a:rPr sz="1700" b="1" i="0">
                <a:solidFill>
                  <a:srgbClr val="0F2A4A"/>
                </a:solidFill>
                <a:latin typeface="Arial"/>
              </a:rPr>
              <a:t>A second mechanistic twin, live —  </a:t>
            </a:r>
            <a:r>
              <a:rPr sz="1700" b="0" i="0">
                <a:solidFill>
                  <a:srgbClr val="1A1D21"/>
                </a:solidFill>
                <a:latin typeface="Arial"/>
              </a:rPr>
              <a:t>bleomycin-induced pulmonary fibrosis + an MSC treatment arm. Triggered by a real question the fibrin twin structurally couldn't answer.</a:t>
            </a:r>
          </a:p>
          <a:p>
            <a:pPr>
              <a:spcAft>
                <a:spcPts val="1800"/>
              </a:spcAft>
            </a:pPr>
            <a:r>
              <a:rPr sz="1700" b="1" i="0">
                <a:solidFill>
                  <a:srgbClr val="0F2A4A"/>
                </a:solidFill>
                <a:latin typeface="Arial"/>
              </a:rPr>
              <a:t>The optimizer —  </a:t>
            </a:r>
            <a:r>
              <a:rPr sz="1700" b="0" i="0">
                <a:solidFill>
                  <a:srgbClr val="1A1D21"/>
                </a:solidFill>
                <a:latin typeface="Arial"/>
              </a:rPr>
              <a:t>cheapest design meeting a power target. Human-facing only, tripwire-tested to never reach the agent under test — a search over designs is a search against the twin (§9.1).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74519"/>
            <a:ext cx="4206240" cy="4023360"/>
          </a:xfrm>
          <a:prstGeom prst="roundRect">
            <a:avLst>
              <a:gd name="adj" fmla="val 4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 bIns="201168">
            <a:no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8A929C"/>
                </a:solidFill>
                <a:latin typeface="Courier New"/>
              </a:rPr>
              <a:t>$ pytest -q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E7B4D"/>
                </a:solidFill>
                <a:latin typeface="Courier New"/>
              </a:rPr>
              <a:t>821 passed, 6 skipped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AED"/>
                </a:solidFill>
                <a:latin typeface="Courier New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A929C"/>
                </a:solidFill>
                <a:latin typeface="Courier New"/>
              </a:rPr>
              <a:t>$ refute optimize \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A929C"/>
                </a:solidFill>
                <a:latin typeface="Courier New"/>
              </a:rPr>
              <a:t>    --assay bleomycin_lung \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A929C"/>
                </a:solidFill>
                <a:latin typeface="Courier New"/>
              </a:rPr>
              <a:t>    --msc-route IT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AED"/>
                </a:solidFill>
                <a:latin typeface="Courier New"/>
              </a:rPr>
              <a:t>WINNER: 2 arms x 20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E7B4D"/>
                </a:solidFill>
                <a:latin typeface="Courier New"/>
              </a:rPr>
              <a:t>power 100%  testable 100%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E8EAED"/>
                </a:solidFill>
                <a:latin typeface="Courier New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A929C"/>
                </a:solidFill>
                <a:latin typeface="Courier New"/>
              </a:rPr>
              <a:t>survivorship bias: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03B2E"/>
                </a:solidFill>
                <a:latin typeface="Courier New"/>
              </a:rPr>
              <a:t>+0.21 Ashcroft pts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A929C"/>
                </a:solidFill>
                <a:latin typeface="Courier New"/>
              </a:rPr>
              <a:t>(the project's own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A929C"/>
                </a:solidFill>
                <a:latin typeface="Courier New"/>
              </a:rPr>
              <a:t>finding, as a number a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8A929C"/>
                </a:solidFill>
                <a:latin typeface="Courier New"/>
              </a:rPr>
              <a:t>second twin produces)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 i="0" spc="150">
                <a:solidFill>
                  <a:srgbClr val="5B636C"/>
                </a:solidFill>
                <a:latin typeface="Arial"/>
              </a:rPr>
              <a:t>WHO THIS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 i="0">
                <a:solidFill>
                  <a:srgbClr val="0F2A4A"/>
                </a:solidFill>
                <a:latin typeface="Arial"/>
              </a:rPr>
              <a:t>Anyone about to spend a budget on an underpowered plate.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0" i="0">
                <a:solidFill>
                  <a:srgbClr val="1A1D21"/>
                </a:solidFill>
                <a:latin typeface="Arial"/>
              </a:rPr>
              <a:t>Experiment 4 cost a term of MPhil work to discover something a simulator says in 40 milliseconds: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88136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 i="0">
                <a:solidFill>
                  <a:srgbClr val="C03B2E"/>
                </a:solidFill>
                <a:latin typeface="Arial"/>
              </a:rPr>
              <a:t>You needed thirty wells per arm. You have three.</a:t>
            </a:r>
          </a:p>
          <a:p>
            <a:pPr>
              <a:spcBef>
                <a:spcPts val="600"/>
              </a:spcBef>
            </a:pPr>
            <a:r>
              <a:rPr sz="1800" b="0" i="1">
                <a:solidFill>
                  <a:srgbClr val="5B636C"/>
                </a:solidFill>
                <a:latin typeface="Arial"/>
              </a:rPr>
              <a:t>And until the gel stops dissolving, you can't even find that out.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480560"/>
            <a:ext cx="10908792" cy="0"/>
          </a:xfrm>
          <a:prstGeom prst="line">
            <a:avLst/>
          </a:prstGeom>
          <a:ln w="12700">
            <a:solidFill>
              <a:srgbClr val="DD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0" i="0">
                <a:solidFill>
                  <a:srgbClr val="1A1D21"/>
                </a:solidFill>
                <a:latin typeface="Arial"/>
              </a:rPr>
              <a:t>The agentic-science framing is why it's a benchmark today. The durable version is a pre-registration check — the optimizer, returning the cheapest sufficient design, before a single well gets cast.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 i="0" spc="150">
                <a:solidFill>
                  <a:srgbClr val="5B636C"/>
                </a:solidFill>
                <a:latin typeface="Arial"/>
              </a:rPr>
              <a:t>TWO BUILDERS, ONE SEAM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 i="0">
                <a:solidFill>
                  <a:srgbClr val="0F2A4A"/>
                </a:solidFill>
                <a:latin typeface="Arial"/>
              </a:rPr>
              <a:t>This is layer 2. Someone else is building layer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630936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800"/>
              </a:spcAft>
            </a:pPr>
            <a:r>
              <a:rPr sz="1700" b="1" i="0">
                <a:solidFill>
                  <a:srgbClr val="0F2A4A"/>
                </a:solidFill>
                <a:latin typeface="Arial"/>
              </a:rPr>
              <a:t>Layer 1 —  </a:t>
            </a:r>
            <a:r>
              <a:rPr sz="1700" b="0" i="0">
                <a:solidFill>
                  <a:srgbClr val="1A1D21"/>
                </a:solidFill>
                <a:latin typeface="Arial"/>
              </a:rPr>
              <a:t>due diligence to exhaustion. Checks a hypothesis against the data and the literature until nothing left changes the answer, then either stops — resolved, no handoff — or hands off the one residual only a bench can settle.</a:t>
            </a:r>
          </a:p>
          <a:p>
            <a:pPr>
              <a:spcAft>
                <a:spcPts val="1800"/>
              </a:spcAft>
            </a:pPr>
            <a:r>
              <a:rPr sz="1700" b="1" i="0">
                <a:solidFill>
                  <a:srgbClr val="0F2A4A"/>
                </a:solidFill>
                <a:latin typeface="Arial"/>
              </a:rPr>
              <a:t>Layer 2 —  </a:t>
            </a:r>
            <a:r>
              <a:rPr sz="1700" b="0" i="0">
                <a:solidFill>
                  <a:srgbClr val="1A1D21"/>
                </a:solidFill>
                <a:latin typeface="Arial"/>
              </a:rPr>
              <a:t>everything in this deck. Designs the experiment for that residual, and refuses honestly when no protocol can model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4434840"/>
            <a:ext cx="10908792" cy="0"/>
          </a:xfrm>
          <a:prstGeom prst="line">
            <a:avLst/>
          </a:prstGeom>
          <a:ln w="12700">
            <a:solidFill>
              <a:srgbClr val="DD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663440"/>
            <a:ext cx="630936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0" i="0">
                <a:solidFill>
                  <a:srgbClr val="5B636C"/>
                </a:solidFill>
                <a:latin typeface="Arial"/>
              </a:rPr>
              <a:t>The contract, verified against the running code, not just agreed in prose:</a:t>
            </a:r>
          </a:p>
          <a:p>
            <a:pPr>
              <a:spcBef>
                <a:spcPts val="800"/>
              </a:spcBef>
            </a:pPr>
            <a:r>
              <a:rPr sz="1900" b="1" i="0">
                <a:solidFill>
                  <a:srgbClr val="0F2A4A"/>
                </a:solidFill>
                <a:latin typeface="Arial"/>
              </a:rPr>
              <a:t>“Looked and it's not there” ≠ “never looked.”</a:t>
            </a:r>
          </a:p>
          <a:p>
            <a:pPr>
              <a:spcBef>
                <a:spcPts val="400"/>
              </a:spcBef>
            </a:pPr>
            <a:r>
              <a:rPr sz="1400" b="0" i="1">
                <a:solidFill>
                  <a:srgbClr val="5B636C"/>
                </a:solidFill>
                <a:latin typeface="Arial"/>
              </a:rPr>
              <a:t>Enforced at construction — a claim of literature silence with no recorded query raises, not a convention anyone could skip.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74519"/>
            <a:ext cx="4206240" cy="4434840"/>
          </a:xfrm>
          <a:prstGeom prst="roundRect">
            <a:avLst>
              <a:gd name="adj" fmla="val 4000"/>
            </a:avLst>
          </a:prstGeom>
          <a:solidFill>
            <a:srgbClr val="14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 bIns="201168">
            <a:no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E8EAED"/>
                </a:solidFill>
                <a:latin typeface="Courier New"/>
              </a:rPr>
              <a:t>Finding(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8A929C"/>
                </a:solidFill>
                <a:latin typeface="Courier New"/>
              </a:rPr>
              <a:t>  statement, kind,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8A929C"/>
                </a:solidFill>
                <a:latin typeface="Courier New"/>
              </a:rPr>
              <a:t>  provenance, source,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8A929C"/>
                </a:solidFill>
                <a:latin typeface="Courier New"/>
              </a:rPr>
              <a:t>  quote, scope,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8A929C"/>
                </a:solidFill>
                <a:latin typeface="Courier New"/>
              </a:rPr>
              <a:t>  value, units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E8EAED"/>
                </a:solidFill>
                <a:latin typeface="Courier New"/>
              </a:rPr>
              <a:t>)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E8EAED"/>
                </a:solidFill>
                <a:latin typeface="Courier New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E8EAED"/>
                </a:solidFill>
                <a:latin typeface="Courier New"/>
              </a:rPr>
              <a:t>OpenItem(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8A929C"/>
                </a:solidFill>
                <a:latin typeface="Courier New"/>
              </a:rPr>
              <a:t>  statement, why,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8A929C"/>
                </a:solidFill>
                <a:latin typeface="Courier New"/>
              </a:rPr>
              <a:t>  searched, queries_run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E8EAED"/>
                </a:solidFill>
                <a:latin typeface="Courier New"/>
              </a:rPr>
              <a:t>)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E8EAED"/>
                </a:solidFill>
                <a:latin typeface="Courier New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1E7B4D"/>
                </a:solidFill>
                <a:latin typeface="Courier New"/>
              </a:rPr>
              <a:t>field-for-field match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1E7B4D"/>
                </a:solidFill>
                <a:latin typeface="Courier New"/>
              </a:rPr>
              <a:t>to the layer-1 SPEC —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8A929C"/>
                </a:solidFill>
                <a:latin typeface="Courier New"/>
              </a:rPr>
              <a:t>not aspirational,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8A929C"/>
                </a:solidFill>
                <a:latin typeface="Courier New"/>
              </a:rPr>
              <a:t>checked against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E8EAED"/>
                </a:solidFill>
                <a:latin typeface="Courier New"/>
              </a:rPr>
              <a:t>refute/handoff.py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 i="0" spc="150">
                <a:solidFill>
                  <a:srgbClr val="5B636C"/>
                </a:solidFill>
                <a:latin typeface="Arial"/>
              </a:rPr>
              <a:t>THE LINE WORTH HAVING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200" b="1" i="0">
                <a:solidFill>
                  <a:srgbClr val="0F2A4A"/>
                </a:solidFill>
                <a:latin typeface="Arial"/>
              </a:rPr>
              <a:t>The common failure isn't malicious AI biology.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1737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0" i="0">
                <a:solidFill>
                  <a:srgbClr val="1A1D21"/>
                </a:solidFill>
                <a:latin typeface="Arial"/>
              </a:rPr>
              <a:t>It's incompetent AI-designed biology — an agent proposing an experiment that cannot answer its own question, and nobody catching it because there's no simulator in the loop.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0F2A4A"/>
                </a:solidFill>
                <a:latin typeface="Arial"/>
              </a:rPr>
              <a:t>That failure is measurable. This measures it against primary data.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931920"/>
            <a:ext cx="10908792" cy="0"/>
          </a:xfrm>
          <a:prstGeom prst="line">
            <a:avLst/>
          </a:prstGeom>
          <a:ln w="12700">
            <a:solidFill>
              <a:srgbClr val="DD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206240"/>
            <a:ext cx="1088136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1A1D21"/>
                </a:solidFill>
                <a:latin typeface="Arial"/>
              </a:rPr>
              <a:t>Live on GitHub — yashs03-hub/refute. 821 tests, two independently calibrated twins, an optimizer, a CLI.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A1D21"/>
                </a:solidFill>
                <a:latin typeface="Arial"/>
              </a:rPr>
              <a:t>Track B: build the dataset. This is that dataset's first two entries, built the way the rest of it should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 i="0">
                <a:solidFill>
                  <a:srgbClr val="5B636C"/>
                </a:solidFill>
                <a:latin typeface="Arial"/>
              </a:rPr>
              <a:t>refute — re:AGENT, Track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5B636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